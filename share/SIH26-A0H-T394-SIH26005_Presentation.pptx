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4" y="23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7091876" y="1882070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9036" y="1771129"/>
            <a:ext cx="7456881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•</a:t>
            </a:r>
            <a:r>
              <a:rPr lang="en-IN" sz="2400" b="1" dirty="0"/>
              <a:t>Problem Statement ID</a:t>
            </a:r>
            <a:r>
              <a:rPr lang="en-IN" sz="2400" dirty="0"/>
              <a:t>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–</a:t>
            </a:r>
            <a:r>
              <a:rPr lang="en-IN" sz="2400" dirty="0"/>
              <a:t>  SIH26005 </a:t>
            </a:r>
            <a:r>
              <a:rPr lang="en-US" sz="2400" dirty="0"/>
              <a:t>​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2400" dirty="0"/>
              <a:t> </a:t>
            </a:r>
            <a:endParaRPr lang="en-US" sz="2400" dirty="0"/>
          </a:p>
          <a:p>
            <a:r>
              <a:rPr lang="en-IN" sz="2400" dirty="0"/>
              <a:t>​</a:t>
            </a:r>
          </a:p>
          <a:p>
            <a:r>
              <a:rPr lang="en-IN" sz="2400" dirty="0"/>
              <a:t>•</a:t>
            </a:r>
            <a:r>
              <a:rPr lang="en-IN" sz="2400" b="1" dirty="0"/>
              <a:t>Problem Statement Title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–</a:t>
            </a:r>
            <a:r>
              <a:rPr lang="en-IN" sz="2400" dirty="0"/>
              <a:t>  Solar-Powered Smart Mini Cold Storage System for Fresh Vegetables in North Eastern Region (NER) ​</a:t>
            </a:r>
          </a:p>
          <a:p>
            <a:r>
              <a:rPr lang="en-IN" sz="2400" dirty="0"/>
              <a:t>​</a:t>
            </a:r>
          </a:p>
          <a:p>
            <a:r>
              <a:rPr lang="en-IN" sz="2400" dirty="0"/>
              <a:t>•</a:t>
            </a:r>
            <a:r>
              <a:rPr lang="en-IN" sz="2400" b="1" dirty="0"/>
              <a:t>Theme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–</a:t>
            </a:r>
            <a:r>
              <a:rPr lang="en-IN" sz="2400" dirty="0"/>
              <a:t> Agriculture, </a:t>
            </a:r>
            <a:r>
              <a:rPr lang="en-IN" sz="2400" dirty="0" err="1"/>
              <a:t>FoodTech</a:t>
            </a:r>
            <a:r>
              <a:rPr lang="en-IN" sz="2400" dirty="0"/>
              <a:t> &amp; Rural Development​</a:t>
            </a:r>
          </a:p>
          <a:p>
            <a:r>
              <a:rPr lang="en-IN" sz="2400" dirty="0"/>
              <a:t>​</a:t>
            </a:r>
          </a:p>
          <a:p>
            <a:r>
              <a:rPr lang="en-IN" sz="2400" dirty="0"/>
              <a:t>•</a:t>
            </a:r>
            <a:r>
              <a:rPr lang="en-IN" sz="2400" b="1" dirty="0"/>
              <a:t>PS Category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–</a:t>
            </a:r>
            <a:r>
              <a:rPr lang="en-IN" sz="2400" dirty="0"/>
              <a:t>  Hardware ​</a:t>
            </a:r>
          </a:p>
          <a:p>
            <a:r>
              <a:rPr lang="en-IN" sz="2400" dirty="0"/>
              <a:t>​</a:t>
            </a:r>
          </a:p>
          <a:p>
            <a:r>
              <a:rPr lang="en-IN" sz="2400" dirty="0"/>
              <a:t>•</a:t>
            </a:r>
            <a:r>
              <a:rPr lang="en-IN" sz="2400" b="1" dirty="0"/>
              <a:t>Team ID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–</a:t>
            </a:r>
            <a:r>
              <a:rPr lang="en-IN" sz="2400" dirty="0"/>
              <a:t> SIH26-A04-394 ​</a:t>
            </a:r>
          </a:p>
          <a:p>
            <a:r>
              <a:rPr lang="en-IN" sz="2400" dirty="0"/>
              <a:t>​</a:t>
            </a:r>
          </a:p>
          <a:p>
            <a:r>
              <a:rPr lang="en-IN" sz="2400" dirty="0"/>
              <a:t>•</a:t>
            </a:r>
            <a:r>
              <a:rPr lang="en-IN" sz="2400" b="1" dirty="0"/>
              <a:t>Team Name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–</a:t>
            </a:r>
            <a:r>
              <a:rPr lang="en-IN" sz="2400" dirty="0"/>
              <a:t> LUMORA </a:t>
            </a:r>
            <a:r>
              <a:rPr lang="en-US" sz="2400" dirty="0"/>
              <a:t>​</a:t>
            </a:r>
          </a:p>
          <a:p>
            <a:r>
              <a:rPr lang="en-IN" sz="2400" dirty="0"/>
              <a:t>​</a:t>
            </a:r>
          </a:p>
          <a:p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2064" y="-243539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37E326-0478-E0B5-CA17-492289D8A44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261" t="24138" r="11481" b="29655"/>
          <a:stretch>
            <a:fillRect/>
          </a:stretch>
        </p:blipFill>
        <p:spPr>
          <a:xfrm>
            <a:off x="0" y="1500"/>
            <a:ext cx="1481959" cy="89796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AAA8C9C-3808-C68D-348D-2D502AF65EE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184" b="1149"/>
          <a:stretch>
            <a:fillRect/>
          </a:stretch>
        </p:blipFill>
        <p:spPr>
          <a:xfrm>
            <a:off x="1069004" y="1047527"/>
            <a:ext cx="10053991" cy="58089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B2E7878-71DE-7B55-EA82-B78E683018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261" t="24138" r="11481" b="29655"/>
          <a:stretch>
            <a:fillRect/>
          </a:stretch>
        </p:blipFill>
        <p:spPr>
          <a:xfrm>
            <a:off x="0" y="1500"/>
            <a:ext cx="1481959" cy="8979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BE7BEAE-250D-79FD-78AE-8013D27830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709" y="964842"/>
            <a:ext cx="10228582" cy="57566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A2BC6FE-D41D-3805-9E61-6624631481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261" t="24138" r="11481" b="29655"/>
          <a:stretch>
            <a:fillRect/>
          </a:stretch>
        </p:blipFill>
        <p:spPr>
          <a:xfrm>
            <a:off x="0" y="1500"/>
            <a:ext cx="1481959" cy="8979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0A9A14-28CE-703D-D212-44610BA12D8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127" b="4713"/>
          <a:stretch>
            <a:fillRect/>
          </a:stretch>
        </p:blipFill>
        <p:spPr>
          <a:xfrm>
            <a:off x="1154495" y="1047865"/>
            <a:ext cx="9883009" cy="580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F36C4A6-0689-FEFF-BB8F-ECFCA25CAA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261" t="24138" r="11481" b="29655"/>
          <a:stretch>
            <a:fillRect/>
          </a:stretch>
        </p:blipFill>
        <p:spPr>
          <a:xfrm>
            <a:off x="0" y="1500"/>
            <a:ext cx="1481959" cy="8979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A8C8D3-0599-4D1C-2D5B-091F58CAB55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081" b="7315"/>
          <a:stretch>
            <a:fillRect/>
          </a:stretch>
        </p:blipFill>
        <p:spPr>
          <a:xfrm>
            <a:off x="952500" y="899461"/>
            <a:ext cx="10287000" cy="5733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145558" y="1366166"/>
            <a:ext cx="9385300" cy="5355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defRPr/>
            </a:pPr>
            <a:r>
              <a:rPr lang="en-US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1] G. Hussain, M. Sultan, M. Aleem, M. W. Shahzad, M. S. Ahamed, M. Farooq, U. Sajjad, Z. Zhang, and S. Ahmad, “Development and performance evaluation of solar-powered cold storage system for perishable agricultural products,” International Communications in Heat and Mass Transfer, vol. 168, p. 109408, 2025, </a:t>
            </a:r>
            <a:r>
              <a:rPr lang="en-US" dirty="0" err="1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doi</a:t>
            </a:r>
            <a:r>
              <a:rPr lang="en-US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: 10.1016/j.icheatmasstransfer.2025.109408.</a:t>
            </a:r>
            <a:endParaRPr lang="en-US" dirty="0">
              <a:solidFill>
                <a:prstClr val="black"/>
              </a:solidFill>
              <a:latin typeface="Arial" pitchFamily="34" charset="0"/>
              <a:cs typeface="Arial" pitchFamily="34" charset="0"/>
            </a:endParaRPr>
          </a:p>
          <a:p>
            <a:pPr algn="just">
              <a:buFont typeface="Arial" panose="020B0604020202020204" pitchFamily="34" charset="0"/>
              <a:buChar char="•"/>
              <a:defRPr/>
            </a:pPr>
            <a:endParaRPr lang="en-US" dirty="0">
              <a:cs typeface="Calibri"/>
            </a:endParaRPr>
          </a:p>
          <a:p>
            <a:pPr algn="just">
              <a:defRPr/>
            </a:pPr>
            <a:r>
              <a:rPr lang="en-US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[2] B. Natarajan, A. C. Kathiresan, and S. K. Subramanium, “Development and performance evaluation of a hybrid portable solar cold storage system for the preservation of vegetables and fruits in remote areas,” Journal of Energy Storage, vol. 72, p. 108292, 2023, </a:t>
            </a:r>
            <a:r>
              <a:rPr lang="en-US" dirty="0" err="1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doi</a:t>
            </a:r>
            <a:r>
              <a:rPr lang="en-US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: 10.1016/j.est.2023.108292.</a:t>
            </a:r>
            <a:endParaRPr lang="en-US" dirty="0">
              <a:solidFill>
                <a:prstClr val="black"/>
              </a:solidFill>
              <a:cs typeface="Calibri"/>
            </a:endParaRPr>
          </a:p>
          <a:p>
            <a:pPr algn="just">
              <a:buFont typeface="Arial" panose="020B0604020202020204" pitchFamily="34" charset="0"/>
              <a:buChar char="•"/>
              <a:defRPr/>
            </a:pPr>
            <a:endParaRPr lang="en-US" dirty="0">
              <a:cs typeface="Calibri"/>
            </a:endParaRPr>
          </a:p>
          <a:p>
            <a:pPr algn="just">
              <a:defRPr/>
            </a:pPr>
            <a:r>
              <a:rPr lang="en-US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[3] W. Amjad, A. Munir, F. Akram, A. Parmar, M. </a:t>
            </a:r>
            <a:r>
              <a:rPr lang="en-US" dirty="0" err="1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Precoppe</a:t>
            </a:r>
            <a:r>
              <a:rPr lang="en-US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, F. Asghar, and F. Mahmood, “Decentralized solar-powered cooling systems for fresh fruit and vegetables to reduce post-harvest losses in developing regions: A review,” Clean Energy, vol. 7, no. 3, pp. 635–653, 2023, </a:t>
            </a:r>
            <a:r>
              <a:rPr lang="en-US" dirty="0" err="1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doi</a:t>
            </a:r>
            <a:r>
              <a:rPr lang="en-US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: 10.1093/</a:t>
            </a:r>
            <a:r>
              <a:rPr lang="en-US" dirty="0" err="1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ce</a:t>
            </a:r>
            <a:r>
              <a:rPr lang="en-US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/zkad015.</a:t>
            </a:r>
            <a:endParaRPr lang="en-US" dirty="0">
              <a:solidFill>
                <a:prstClr val="black"/>
              </a:solidFill>
              <a:cs typeface="Calibri"/>
            </a:endParaRPr>
          </a:p>
          <a:p>
            <a:pPr algn="just">
              <a:buFont typeface="Arial" panose="020B0604020202020204" pitchFamily="34" charset="0"/>
              <a:buChar char="•"/>
              <a:defRPr/>
            </a:pPr>
            <a:endParaRPr lang="en-US" dirty="0">
              <a:cs typeface="Calibri"/>
            </a:endParaRPr>
          </a:p>
          <a:p>
            <a:pPr algn="just">
              <a:defRPr/>
            </a:pPr>
            <a:r>
              <a:rPr lang="en-US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[4] H. J. El-</a:t>
            </a:r>
            <a:r>
              <a:rPr lang="en-US" dirty="0" err="1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Khozondar</a:t>
            </a:r>
            <a:r>
              <a:rPr lang="en-US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, M. Elnaggar, A. Al-</a:t>
            </a:r>
            <a:r>
              <a:rPr lang="en-US" dirty="0" err="1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Mabouh</a:t>
            </a:r>
            <a:r>
              <a:rPr lang="en-US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, L. Abu </a:t>
            </a:r>
            <a:r>
              <a:rPr lang="en-US" dirty="0" err="1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Zanouna</a:t>
            </a:r>
            <a:r>
              <a:rPr lang="en-US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, M. I. Al-</a:t>
            </a:r>
            <a:r>
              <a:rPr lang="en-US" dirty="0" err="1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Atawne</a:t>
            </a:r>
            <a:r>
              <a:rPr lang="en-US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, and O. Safi, “Solar-powered cold storage system,” in Proc. 2021 International Conference on Promising Electronic Technologies (ICPET), 2021, pp. 28–33, </a:t>
            </a:r>
            <a:r>
              <a:rPr lang="en-US" dirty="0" err="1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doi</a:t>
            </a:r>
            <a:r>
              <a:rPr lang="en-US" dirty="0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: 10.1109/ICPET53277.2021.00012.</a:t>
            </a:r>
            <a:endParaRPr lang="en-US" dirty="0">
              <a:solidFill>
                <a:prstClr val="black"/>
              </a:solidFill>
              <a:cs typeface="Calibri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3F6F9E1-EB3B-36F1-71F2-A32FE567C61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261" t="24138" r="11481" b="29655"/>
          <a:stretch>
            <a:fillRect/>
          </a:stretch>
        </p:blipFill>
        <p:spPr>
          <a:xfrm>
            <a:off x="0" y="1500"/>
            <a:ext cx="1481959" cy="897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7814</TotalTime>
  <Words>415</Words>
  <Application>Microsoft Office PowerPoint</Application>
  <PresentationFormat>Widescreen</PresentationFormat>
  <Paragraphs>42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THIRUPUGAZHL S D</cp:lastModifiedBy>
  <cp:revision>153</cp:revision>
  <dcterms:created xsi:type="dcterms:W3CDTF">2013-12-12T18:46:50Z</dcterms:created>
  <dcterms:modified xsi:type="dcterms:W3CDTF">2026-08-30T18:09:17Z</dcterms:modified>
  <cp:category/>
</cp:coreProperties>
</file>